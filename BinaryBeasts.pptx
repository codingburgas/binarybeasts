
<file path=[Content_Types].xml><?xml version="1.0" encoding="utf-8"?>
<Types xmlns="http://schemas.openxmlformats.org/package/2006/content-types"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9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282A828A-EADA-F17D-9EF8-EDEB7AE30384}" v="38" dt="2026-03-24T19:54:10.226"/>
    <p1510:client id="{B1ED1D0F-CC5D-94E0-74E3-8B7EEFE22072}" v="12" dt="2026-03-24T23:58:46.049"/>
    <p1510:client id="{CCE14515-3107-BBAA-351E-EFFC8FEDA26B}" v="18" dt="2026-03-24T19:38:58.606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09" d="100"/>
          <a:sy n="109" d="100"/>
        </p:scale>
        <p:origin x="706" y="8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notesMaster" Target="notesMasters/notesMaster1.xml"/><Relationship Id="rId14" Type="http://schemas.microsoft.com/office/2015/10/relationships/revisionInfo" Target="revisionInfo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Контейнер за горния колонтитул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22885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bg-BG"/>
          </a:p>
        </p:txBody>
      </p:sp>
      <p:sp>
        <p:nvSpPr>
          <p:cNvPr id="3" name="Контейнер за дата 2"/>
          <p:cNvSpPr>
            <a:spLocks noGrp="1"/>
          </p:cNvSpPr>
          <p:nvPr>
            <p:ph type="dt" idx="1"/>
          </p:nvPr>
        </p:nvSpPr>
        <p:spPr>
          <a:xfrm>
            <a:off x="2913063" y="0"/>
            <a:ext cx="222885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5FF1103-E7AA-4EFD-9207-0B4DB64C37DC}" type="datetimeFigureOut">
              <a:t>5/17/2026</a:t>
            </a:fld>
            <a:endParaRPr lang="bg-BG"/>
          </a:p>
        </p:txBody>
      </p:sp>
      <p:sp>
        <p:nvSpPr>
          <p:cNvPr id="4" name="Контейнер за изображение на слайда 3"/>
          <p:cNvSpPr>
            <a:spLocks noGrp="1" noRot="1" noChangeAspect="1"/>
          </p:cNvSpPr>
          <p:nvPr>
            <p:ph type="sldImg" idx="2"/>
          </p:nvPr>
        </p:nvSpPr>
        <p:spPr>
          <a:xfrm>
            <a:off x="-17145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bg-BG"/>
          </a:p>
        </p:txBody>
      </p:sp>
      <p:sp>
        <p:nvSpPr>
          <p:cNvPr id="5" name="Контейнер за бележки 4"/>
          <p:cNvSpPr>
            <a:spLocks noGrp="1"/>
          </p:cNvSpPr>
          <p:nvPr>
            <p:ph type="body" sz="quarter" idx="3"/>
          </p:nvPr>
        </p:nvSpPr>
        <p:spPr>
          <a:xfrm>
            <a:off x="514350" y="4400550"/>
            <a:ext cx="41148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bg-BG"/>
              <a:t>Щракнете, за да редактирате стиловете на текста в образеца</a:t>
            </a:r>
          </a:p>
          <a:p>
            <a:pPr lvl="1"/>
            <a:r>
              <a:rPr lang="bg-BG"/>
              <a:t>Второ ниво</a:t>
            </a:r>
          </a:p>
          <a:p>
            <a:pPr lvl="2"/>
            <a:r>
              <a:rPr lang="bg-BG"/>
              <a:t>Трето ниво</a:t>
            </a:r>
          </a:p>
          <a:p>
            <a:pPr lvl="3"/>
            <a:r>
              <a:rPr lang="bg-BG"/>
              <a:t>Четвърто ниво</a:t>
            </a:r>
          </a:p>
          <a:p>
            <a:pPr lvl="4"/>
            <a:r>
              <a:rPr lang="bg-BG"/>
              <a:t>Пето ниво</a:t>
            </a:r>
          </a:p>
        </p:txBody>
      </p:sp>
      <p:sp>
        <p:nvSpPr>
          <p:cNvPr id="6" name="Контейнер за долния колонтитул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22885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bg-BG"/>
          </a:p>
        </p:txBody>
      </p:sp>
      <p:sp>
        <p:nvSpPr>
          <p:cNvPr id="7" name="Контейнер за номер на слайда 6"/>
          <p:cNvSpPr>
            <a:spLocks noGrp="1"/>
          </p:cNvSpPr>
          <p:nvPr>
            <p:ph type="sldNum" sz="quarter" idx="5"/>
          </p:nvPr>
        </p:nvSpPr>
        <p:spPr>
          <a:xfrm>
            <a:off x="2913063" y="8685213"/>
            <a:ext cx="222885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8A8BA8A-C6A8-439B-8D15-1998D090B1E3}" type="slidenum">
              <a:t>‹#›</a:t>
            </a:fld>
            <a:endParaRPr lang="bg-BG"/>
          </a:p>
        </p:txBody>
      </p:sp>
    </p:spTree>
    <p:extLst>
      <p:ext uri="{BB962C8B-B14F-4D97-AF65-F5344CB8AC3E}">
        <p14:creationId xmlns:p14="http://schemas.microsoft.com/office/powerpoint/2010/main" val="383123663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7" Type="http://schemas.openxmlformats.org/officeDocument/2006/relationships/image" Target="../media/image6.jp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jp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2EA043"/>
          </a:solidFill>
          <a:ln w="12700">
            <a:solidFill>
              <a:srgbClr val="2EA04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7772400" y="0"/>
            <a:ext cx="1371600" cy="164592"/>
          </a:xfrm>
          <a:prstGeom prst="rect">
            <a:avLst/>
          </a:prstGeom>
          <a:solidFill>
            <a:srgbClr val="56D364"/>
          </a:solidFill>
          <a:ln w="12700">
            <a:solidFill>
              <a:srgbClr val="56D36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8979408" y="0"/>
            <a:ext cx="164592" cy="2286000"/>
          </a:xfrm>
          <a:prstGeom prst="rect">
            <a:avLst/>
          </a:prstGeom>
          <a:solidFill>
            <a:srgbClr val="56D364"/>
          </a:solidFill>
          <a:ln w="12700">
            <a:solidFill>
              <a:srgbClr val="56D36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164592" y="4974336"/>
            <a:ext cx="8979408" cy="164592"/>
          </a:xfrm>
          <a:prstGeom prst="rect">
            <a:avLst/>
          </a:prstGeom>
          <a:solidFill>
            <a:srgbClr val="E53E6D"/>
          </a:solidFill>
          <a:ln w="12700">
            <a:solidFill>
              <a:srgbClr val="E53E6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4"/>
          <p:cNvSpPr/>
          <p:nvPr/>
        </p:nvSpPr>
        <p:spPr>
          <a:xfrm>
            <a:off x="2011680" y="822960"/>
            <a:ext cx="68580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52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FOOTBALL MATCH</a:t>
            </a:r>
            <a:endParaRPr lang="en-US" sz="5200" dirty="0"/>
          </a:p>
        </p:txBody>
      </p:sp>
      <p:sp>
        <p:nvSpPr>
          <p:cNvPr id="8" name="Text 5"/>
          <p:cNvSpPr/>
          <p:nvPr/>
        </p:nvSpPr>
        <p:spPr>
          <a:xfrm>
            <a:off x="2011680" y="1554480"/>
            <a:ext cx="68580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5200" b="1" dirty="0">
                <a:solidFill>
                  <a:srgbClr val="2EA043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TRACKER</a:t>
            </a:r>
            <a:endParaRPr lang="en-US" sz="5200" dirty="0"/>
          </a:p>
        </p:txBody>
      </p:sp>
      <p:sp>
        <p:nvSpPr>
          <p:cNvPr id="9" name="Text 6"/>
          <p:cNvSpPr/>
          <p:nvPr/>
        </p:nvSpPr>
        <p:spPr>
          <a:xfrm>
            <a:off x="2011680" y="2377440"/>
            <a:ext cx="6858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i="1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Live Scores  ·  Player Stats  ·  Match Analytics</a:t>
            </a:r>
            <a:endParaRPr lang="en-US" sz="1600" dirty="0"/>
          </a:p>
        </p:txBody>
      </p:sp>
      <p:sp>
        <p:nvSpPr>
          <p:cNvPr id="10" name="Shape 7"/>
          <p:cNvSpPr/>
          <p:nvPr/>
        </p:nvSpPr>
        <p:spPr>
          <a:xfrm>
            <a:off x="2011680" y="2880360"/>
            <a:ext cx="4114800" cy="45720"/>
          </a:xfrm>
          <a:prstGeom prst="rect">
            <a:avLst/>
          </a:prstGeom>
          <a:solidFill>
            <a:srgbClr val="2EA043"/>
          </a:solidFill>
          <a:ln w="12700">
            <a:solidFill>
              <a:srgbClr val="2EA04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8"/>
          <p:cNvSpPr/>
          <p:nvPr/>
        </p:nvSpPr>
        <p:spPr>
          <a:xfrm>
            <a:off x="2011680" y="3017520"/>
            <a:ext cx="6858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Real-time football intelligence for coaches, analysts, and fans</a:t>
            </a:r>
            <a:endParaRPr lang="en-US" sz="1300" dirty="0"/>
          </a:p>
        </p:txBody>
      </p:sp>
      <p:sp>
        <p:nvSpPr>
          <p:cNvPr id="12" name="Text 9"/>
          <p:cNvSpPr/>
          <p:nvPr/>
        </p:nvSpPr>
        <p:spPr>
          <a:xfrm>
            <a:off x="2011680" y="3429000"/>
            <a:ext cx="6858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dirty="0">
                <a:solidFill>
                  <a:srgbClr val="56D3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Season 2025 / 2026  |  v2.0</a:t>
            </a:r>
            <a:endParaRPr lang="en-US" sz="1300" dirty="0"/>
          </a:p>
        </p:txBody>
      </p:sp>
      <p:sp>
        <p:nvSpPr>
          <p:cNvPr id="13" name="Text 10"/>
          <p:cNvSpPr/>
          <p:nvPr/>
        </p:nvSpPr>
        <p:spPr>
          <a:xfrm>
            <a:off x="164592" y="4480560"/>
            <a:ext cx="897940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endParaRPr lang="en-US" sz="1300" i="1" dirty="0">
              <a:solidFill>
                <a:srgbClr val="E53E6D"/>
              </a:solidFill>
              <a:latin typeface="Arial"/>
              <a:ea typeface="Calibri"/>
              <a:cs typeface="Arial"/>
            </a:endParaRPr>
          </a:p>
        </p:txBody>
      </p:sp>
      <p:pic>
        <p:nvPicPr>
          <p:cNvPr id="17" name="Picture 16">
            <a:extLst>
              <a:ext uri="{FF2B5EF4-FFF2-40B4-BE49-F238E27FC236}">
                <a16:creationId xmlns:a16="http://schemas.microsoft.com/office/drawing/2014/main" id="{3FE6AC72-BEB8-27E9-85E7-7234325FA1B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69690" y="1822880"/>
            <a:ext cx="3852320" cy="385232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0FFF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0D1117"/>
          </a:solidFill>
          <a:ln w="12700">
            <a:solidFill>
              <a:srgbClr val="0D111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8600" y="91440"/>
            <a:ext cx="667512" cy="54864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005840" y="109728"/>
            <a:ext cx="73152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6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Key Roles</a:t>
            </a:r>
            <a:endParaRPr lang="en-US" sz="3600" dirty="0"/>
          </a:p>
        </p:txBody>
      </p:sp>
      <p:sp>
        <p:nvSpPr>
          <p:cNvPr id="5" name="Shape 2"/>
          <p:cNvSpPr/>
          <p:nvPr/>
        </p:nvSpPr>
        <p:spPr>
          <a:xfrm>
            <a:off x="0" y="1005840"/>
            <a:ext cx="9144000" cy="64008"/>
          </a:xfrm>
          <a:prstGeom prst="rect">
            <a:avLst/>
          </a:prstGeom>
          <a:solidFill>
            <a:srgbClr val="2EA043"/>
          </a:solidFill>
          <a:ln w="12700">
            <a:solidFill>
              <a:srgbClr val="2EA04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Shape 3"/>
          <p:cNvSpPr/>
          <p:nvPr/>
        </p:nvSpPr>
        <p:spPr>
          <a:xfrm>
            <a:off x="320040" y="1280160"/>
            <a:ext cx="1965960" cy="3383280"/>
          </a:xfrm>
          <a:prstGeom prst="rect">
            <a:avLst/>
          </a:prstGeom>
          <a:solidFill>
            <a:srgbClr val="FFFFFF"/>
          </a:solidFill>
          <a:ln w="6350">
            <a:solidFill>
              <a:srgbClr val="E0E0E0"/>
            </a:solidFill>
            <a:prstDash val="solid"/>
          </a:ln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7" name="Shape 4"/>
          <p:cNvSpPr/>
          <p:nvPr/>
        </p:nvSpPr>
        <p:spPr>
          <a:xfrm>
            <a:off x="320040" y="1280160"/>
            <a:ext cx="1965960" cy="164592"/>
          </a:xfrm>
          <a:prstGeom prst="rect">
            <a:avLst/>
          </a:prstGeom>
          <a:solidFill>
            <a:srgbClr val="2EA043"/>
          </a:solidFill>
          <a:ln w="12700">
            <a:solidFill>
              <a:srgbClr val="2EA04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Shape 5"/>
          <p:cNvSpPr/>
          <p:nvPr/>
        </p:nvSpPr>
        <p:spPr>
          <a:xfrm>
            <a:off x="845820" y="1600200"/>
            <a:ext cx="914400" cy="914400"/>
          </a:xfrm>
          <a:prstGeom prst="ellipse">
            <a:avLst/>
          </a:prstGeom>
          <a:solidFill>
            <a:srgbClr val="2EA043">
              <a:alpha val="20000"/>
            </a:srgbClr>
          </a:solidFill>
          <a:ln w="25400">
            <a:solidFill>
              <a:srgbClr val="2EA04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6"/>
          <p:cNvSpPr/>
          <p:nvPr/>
        </p:nvSpPr>
        <p:spPr>
          <a:xfrm>
            <a:off x="845820" y="1600200"/>
            <a:ext cx="9144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2EA043"/>
                </a:solidFill>
                <a:latin typeface="Arial Black" pitchFamily="34" charset="0"/>
              </a:rPr>
              <a:t>D</a:t>
            </a:r>
            <a:endParaRPr lang="en-US" sz="2800" dirty="0"/>
          </a:p>
        </p:txBody>
      </p:sp>
      <p:sp>
        <p:nvSpPr>
          <p:cNvPr id="10" name="Text 7"/>
          <p:cNvSpPr/>
          <p:nvPr/>
        </p:nvSpPr>
        <p:spPr>
          <a:xfrm>
            <a:off x="420624" y="2697480"/>
            <a:ext cx="1783080" cy="411480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ctr"/>
          <a:lstStyle/>
          <a:p>
            <a:pPr algn="ctr"/>
            <a:r>
              <a:rPr lang="en-US" sz="1400" b="1" dirty="0">
                <a:ea typeface="+mn-lt"/>
                <a:cs typeface="+mn-lt"/>
              </a:rPr>
              <a:t>Dimitar</a:t>
            </a:r>
            <a:r>
              <a:rPr lang="en-US" b="1" dirty="0">
                <a:ea typeface="+mn-lt"/>
                <a:cs typeface="+mn-lt"/>
              </a:rPr>
              <a:t> </a:t>
            </a:r>
            <a:r>
              <a:rPr lang="en-US" sz="1400" b="1" dirty="0" err="1">
                <a:ea typeface="+mn-lt"/>
                <a:cs typeface="+mn-lt"/>
              </a:rPr>
              <a:t>Nyagalov</a:t>
            </a:r>
            <a:endParaRPr lang="bg-BG" sz="1400" b="1" dirty="0">
              <a:ea typeface="+mn-lt"/>
              <a:cs typeface="+mn-lt"/>
            </a:endParaRPr>
          </a:p>
        </p:txBody>
      </p:sp>
      <p:sp>
        <p:nvSpPr>
          <p:cNvPr id="11" name="Shape 8"/>
          <p:cNvSpPr/>
          <p:nvPr/>
        </p:nvSpPr>
        <p:spPr>
          <a:xfrm>
            <a:off x="548640" y="3182112"/>
            <a:ext cx="1508760" cy="347472"/>
          </a:xfrm>
          <a:prstGeom prst="rect">
            <a:avLst/>
          </a:prstGeom>
          <a:solidFill>
            <a:srgbClr val="2EA043">
              <a:alpha val="15000"/>
            </a:srgbClr>
          </a:solidFill>
          <a:ln w="6350">
            <a:solidFill>
              <a:srgbClr val="2EA04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9"/>
          <p:cNvSpPr/>
          <p:nvPr/>
        </p:nvSpPr>
        <p:spPr>
          <a:xfrm>
            <a:off x="548640" y="3182112"/>
            <a:ext cx="15087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2EA04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Match Analyst</a:t>
            </a:r>
            <a:endParaRPr lang="en-US" sz="1100" dirty="0"/>
          </a:p>
        </p:txBody>
      </p:sp>
      <p:sp>
        <p:nvSpPr>
          <p:cNvPr id="13" name="Text 10"/>
          <p:cNvSpPr/>
          <p:nvPr/>
        </p:nvSpPr>
        <p:spPr>
          <a:xfrm>
            <a:off x="411480" y="3657600"/>
            <a:ext cx="1783080" cy="320040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ctr"/>
          <a:lstStyle/>
          <a:p>
            <a:pPr algn="ctr"/>
            <a:r>
              <a:rPr lang="en-US" sz="1200" dirty="0">
                <a:solidFill>
                  <a:srgbClr val="8B949E"/>
                </a:solidFill>
                <a:latin typeface="Arial"/>
                <a:cs typeface="Arial"/>
              </a:rPr>
              <a:t>Back-end Developer</a:t>
            </a:r>
            <a:endParaRPr lang="en-US" sz="1200" dirty="0">
              <a:latin typeface="Arial"/>
              <a:cs typeface="Arial"/>
            </a:endParaRPr>
          </a:p>
        </p:txBody>
      </p:sp>
      <p:sp>
        <p:nvSpPr>
          <p:cNvPr id="14" name="Shape 11"/>
          <p:cNvSpPr/>
          <p:nvPr/>
        </p:nvSpPr>
        <p:spPr>
          <a:xfrm>
            <a:off x="2496312" y="1280160"/>
            <a:ext cx="1965960" cy="3383280"/>
          </a:xfrm>
          <a:prstGeom prst="rect">
            <a:avLst/>
          </a:prstGeom>
          <a:solidFill>
            <a:srgbClr val="FFFFFF"/>
          </a:solidFill>
          <a:ln w="6350">
            <a:solidFill>
              <a:srgbClr val="E0E0E0"/>
            </a:solidFill>
            <a:prstDash val="solid"/>
          </a:ln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5" name="Shape 12"/>
          <p:cNvSpPr/>
          <p:nvPr/>
        </p:nvSpPr>
        <p:spPr>
          <a:xfrm>
            <a:off x="2496312" y="1280160"/>
            <a:ext cx="1965960" cy="164592"/>
          </a:xfrm>
          <a:prstGeom prst="rect">
            <a:avLst/>
          </a:prstGeom>
          <a:solidFill>
            <a:srgbClr val="E53E6D"/>
          </a:solidFill>
          <a:ln w="12700">
            <a:solidFill>
              <a:srgbClr val="E53E6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Shape 13"/>
          <p:cNvSpPr/>
          <p:nvPr/>
        </p:nvSpPr>
        <p:spPr>
          <a:xfrm>
            <a:off x="3022092" y="1600200"/>
            <a:ext cx="914400" cy="914400"/>
          </a:xfrm>
          <a:prstGeom prst="ellipse">
            <a:avLst/>
          </a:prstGeom>
          <a:solidFill>
            <a:srgbClr val="E53E6D">
              <a:alpha val="20000"/>
            </a:srgbClr>
          </a:solidFill>
          <a:ln w="25400">
            <a:solidFill>
              <a:srgbClr val="E53E6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Text 14"/>
          <p:cNvSpPr/>
          <p:nvPr/>
        </p:nvSpPr>
        <p:spPr>
          <a:xfrm>
            <a:off x="3022092" y="1600200"/>
            <a:ext cx="9144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E53E6D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N</a:t>
            </a:r>
            <a:endParaRPr lang="en-US" sz="2800" dirty="0"/>
          </a:p>
        </p:txBody>
      </p:sp>
      <p:sp>
        <p:nvSpPr>
          <p:cNvPr id="18" name="Text 15"/>
          <p:cNvSpPr/>
          <p:nvPr/>
        </p:nvSpPr>
        <p:spPr>
          <a:xfrm>
            <a:off x="2587752" y="2697480"/>
            <a:ext cx="1783080" cy="411480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ctr"/>
          <a:lstStyle/>
          <a:p>
            <a:pPr algn="ctr"/>
            <a:r>
              <a:rPr lang="en-US" sz="1400" b="1" dirty="0">
                <a:solidFill>
                  <a:srgbClr val="0D1117"/>
                </a:solidFill>
                <a:ea typeface="+mn-lt"/>
                <a:cs typeface="+mn-lt"/>
              </a:rPr>
              <a:t>Miroslav Iliev</a:t>
            </a:r>
            <a:endParaRPr lang="bg-BG" b="1" dirty="0" err="1">
              <a:ea typeface="+mn-lt"/>
              <a:cs typeface="+mn-lt"/>
            </a:endParaRPr>
          </a:p>
        </p:txBody>
      </p:sp>
      <p:sp>
        <p:nvSpPr>
          <p:cNvPr id="19" name="Shape 16"/>
          <p:cNvSpPr/>
          <p:nvPr/>
        </p:nvSpPr>
        <p:spPr>
          <a:xfrm>
            <a:off x="2724912" y="3182112"/>
            <a:ext cx="1508760" cy="347472"/>
          </a:xfrm>
          <a:prstGeom prst="rect">
            <a:avLst/>
          </a:prstGeom>
          <a:solidFill>
            <a:srgbClr val="E53E6D">
              <a:alpha val="15000"/>
            </a:srgbClr>
          </a:solidFill>
          <a:ln w="6350">
            <a:solidFill>
              <a:srgbClr val="E53E6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Text 17"/>
          <p:cNvSpPr/>
          <p:nvPr/>
        </p:nvSpPr>
        <p:spPr>
          <a:xfrm>
            <a:off x="2724912" y="3182112"/>
            <a:ext cx="15087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E53E6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 Engineer</a:t>
            </a:r>
            <a:endParaRPr lang="en-US" sz="1100" dirty="0"/>
          </a:p>
        </p:txBody>
      </p:sp>
      <p:sp>
        <p:nvSpPr>
          <p:cNvPr id="21" name="Text 18"/>
          <p:cNvSpPr/>
          <p:nvPr/>
        </p:nvSpPr>
        <p:spPr>
          <a:xfrm>
            <a:off x="2587752" y="3657600"/>
            <a:ext cx="1783080" cy="320040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8B949E"/>
                </a:solidFill>
                <a:latin typeface="Arial"/>
                <a:ea typeface="Arial" pitchFamily="34" charset="-122"/>
                <a:cs typeface="Arial"/>
              </a:rPr>
              <a:t>Scrum Trainer</a:t>
            </a:r>
            <a:endParaRPr lang="en-US" sz="1200" dirty="0"/>
          </a:p>
        </p:txBody>
      </p:sp>
      <p:sp>
        <p:nvSpPr>
          <p:cNvPr id="22" name="Shape 19"/>
          <p:cNvSpPr/>
          <p:nvPr/>
        </p:nvSpPr>
        <p:spPr>
          <a:xfrm>
            <a:off x="4672584" y="1280160"/>
            <a:ext cx="1965960" cy="3383280"/>
          </a:xfrm>
          <a:prstGeom prst="rect">
            <a:avLst/>
          </a:prstGeom>
          <a:solidFill>
            <a:srgbClr val="FFFFFF"/>
          </a:solidFill>
          <a:ln w="6350">
            <a:solidFill>
              <a:srgbClr val="E0E0E0"/>
            </a:solidFill>
            <a:prstDash val="solid"/>
          </a:ln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3" name="Shape 20"/>
          <p:cNvSpPr/>
          <p:nvPr/>
        </p:nvSpPr>
        <p:spPr>
          <a:xfrm>
            <a:off x="4672584" y="1280160"/>
            <a:ext cx="1965960" cy="164592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Shape 21"/>
          <p:cNvSpPr/>
          <p:nvPr/>
        </p:nvSpPr>
        <p:spPr>
          <a:xfrm>
            <a:off x="5198364" y="1600200"/>
            <a:ext cx="914400" cy="914400"/>
          </a:xfrm>
          <a:prstGeom prst="ellipse">
            <a:avLst/>
          </a:prstGeom>
          <a:solidFill>
            <a:srgbClr val="3B82F6">
              <a:alpha val="20000"/>
            </a:srgbClr>
          </a:solidFill>
          <a:ln w="25400">
            <a:solidFill>
              <a:srgbClr val="3B82F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" name="Text 22"/>
          <p:cNvSpPr/>
          <p:nvPr/>
        </p:nvSpPr>
        <p:spPr>
          <a:xfrm>
            <a:off x="5198364" y="1600200"/>
            <a:ext cx="9144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3B82F6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N</a:t>
            </a:r>
            <a:endParaRPr lang="en-US" sz="2800" dirty="0"/>
          </a:p>
        </p:txBody>
      </p:sp>
      <p:sp>
        <p:nvSpPr>
          <p:cNvPr id="26" name="Text 23"/>
          <p:cNvSpPr/>
          <p:nvPr/>
        </p:nvSpPr>
        <p:spPr>
          <a:xfrm>
            <a:off x="4764024" y="2697480"/>
            <a:ext cx="1783080" cy="411480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ctr"/>
          <a:lstStyle/>
          <a:p>
            <a:pPr algn="ctr"/>
            <a:r>
              <a:rPr lang="en-US" sz="1400" b="1" dirty="0">
                <a:ea typeface="+mn-lt"/>
                <a:cs typeface="+mn-lt"/>
              </a:rPr>
              <a:t>Yordan </a:t>
            </a:r>
            <a:r>
              <a:rPr lang="en-US" sz="1400" b="1" dirty="0" err="1">
                <a:ea typeface="+mn-lt"/>
                <a:cs typeface="+mn-lt"/>
              </a:rPr>
              <a:t>Rayinov</a:t>
            </a:r>
            <a:endParaRPr lang="bg-BG" sz="1400" b="1" dirty="0" err="1">
              <a:ea typeface="+mn-lt"/>
              <a:cs typeface="+mn-lt"/>
            </a:endParaRPr>
          </a:p>
        </p:txBody>
      </p:sp>
      <p:sp>
        <p:nvSpPr>
          <p:cNvPr id="27" name="Shape 24"/>
          <p:cNvSpPr/>
          <p:nvPr/>
        </p:nvSpPr>
        <p:spPr>
          <a:xfrm>
            <a:off x="4901184" y="3182112"/>
            <a:ext cx="1508760" cy="347472"/>
          </a:xfrm>
          <a:prstGeom prst="rect">
            <a:avLst/>
          </a:prstGeom>
          <a:solidFill>
            <a:srgbClr val="3B82F6">
              <a:alpha val="15000"/>
            </a:srgbClr>
          </a:solidFill>
          <a:ln w="6350">
            <a:solidFill>
              <a:srgbClr val="3B82F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8" name="Text 25"/>
          <p:cNvSpPr/>
          <p:nvPr/>
        </p:nvSpPr>
        <p:spPr>
          <a:xfrm>
            <a:off x="4901184" y="3182112"/>
            <a:ext cx="15087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3B82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UI Developer</a:t>
            </a:r>
            <a:endParaRPr lang="en-US" sz="1100" dirty="0"/>
          </a:p>
        </p:txBody>
      </p:sp>
      <p:sp>
        <p:nvSpPr>
          <p:cNvPr id="29" name="Text 26"/>
          <p:cNvSpPr/>
          <p:nvPr/>
        </p:nvSpPr>
        <p:spPr>
          <a:xfrm>
            <a:off x="4764024" y="3657600"/>
            <a:ext cx="1783080" cy="320040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ctr"/>
          <a:lstStyle/>
          <a:p>
            <a:pPr algn="ctr"/>
            <a:r>
              <a:rPr lang="en-US" sz="1200" dirty="0">
                <a:solidFill>
                  <a:srgbClr val="8B949E"/>
                </a:solidFill>
                <a:latin typeface="Arial"/>
                <a:cs typeface="Arial"/>
              </a:rPr>
              <a:t>Front-end Developer</a:t>
            </a:r>
            <a:endParaRPr lang="en-US" sz="1200" dirty="0">
              <a:latin typeface="Arial"/>
              <a:cs typeface="Arial"/>
            </a:endParaRPr>
          </a:p>
        </p:txBody>
      </p:sp>
      <p:sp>
        <p:nvSpPr>
          <p:cNvPr id="30" name="Shape 27"/>
          <p:cNvSpPr/>
          <p:nvPr/>
        </p:nvSpPr>
        <p:spPr>
          <a:xfrm>
            <a:off x="6848856" y="1280160"/>
            <a:ext cx="1965960" cy="3383280"/>
          </a:xfrm>
          <a:prstGeom prst="rect">
            <a:avLst/>
          </a:prstGeom>
          <a:solidFill>
            <a:srgbClr val="FFFFFF"/>
          </a:solidFill>
          <a:ln w="6350">
            <a:solidFill>
              <a:srgbClr val="E0E0E0"/>
            </a:solidFill>
            <a:prstDash val="solid"/>
          </a:ln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1" name="Shape 28"/>
          <p:cNvSpPr/>
          <p:nvPr/>
        </p:nvSpPr>
        <p:spPr>
          <a:xfrm>
            <a:off x="6848856" y="1280160"/>
            <a:ext cx="1965960" cy="164592"/>
          </a:xfrm>
          <a:prstGeom prst="rect">
            <a:avLst/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2" name="Shape 29"/>
          <p:cNvSpPr/>
          <p:nvPr/>
        </p:nvSpPr>
        <p:spPr>
          <a:xfrm>
            <a:off x="7374636" y="1600200"/>
            <a:ext cx="914400" cy="914400"/>
          </a:xfrm>
          <a:prstGeom prst="ellipse">
            <a:avLst/>
          </a:prstGeom>
          <a:solidFill>
            <a:srgbClr val="8B5CF6">
              <a:alpha val="20000"/>
            </a:srgbClr>
          </a:solidFill>
          <a:ln w="25400">
            <a:solidFill>
              <a:srgbClr val="8B5CF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3" name="Text 30"/>
          <p:cNvSpPr/>
          <p:nvPr/>
        </p:nvSpPr>
        <p:spPr>
          <a:xfrm>
            <a:off x="7374636" y="1600200"/>
            <a:ext cx="9144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8B5CF6"/>
                </a:solidFill>
                <a:latin typeface="Arial Black" pitchFamily="34" charset="0"/>
              </a:rPr>
              <a:t>I</a:t>
            </a:r>
            <a:endParaRPr lang="en-US" sz="2800" dirty="0"/>
          </a:p>
        </p:txBody>
      </p:sp>
      <p:sp>
        <p:nvSpPr>
          <p:cNvPr id="34" name="Text 31"/>
          <p:cNvSpPr/>
          <p:nvPr/>
        </p:nvSpPr>
        <p:spPr>
          <a:xfrm>
            <a:off x="6940296" y="2697480"/>
            <a:ext cx="1783080" cy="411480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ctr"/>
          <a:lstStyle/>
          <a:p>
            <a:pPr algn="ctr"/>
            <a:r>
              <a:rPr lang="en-US" sz="1400" b="1" dirty="0">
                <a:ea typeface="+mn-lt"/>
                <a:cs typeface="+mn-lt"/>
              </a:rPr>
              <a:t>Ivan </a:t>
            </a:r>
            <a:r>
              <a:rPr lang="en-US" sz="1400" b="1" dirty="0" err="1">
                <a:ea typeface="+mn-lt"/>
                <a:cs typeface="+mn-lt"/>
              </a:rPr>
              <a:t>Trifanov</a:t>
            </a:r>
            <a:endParaRPr lang="bg-BG" sz="1400" b="1" dirty="0" err="1">
              <a:ea typeface="+mn-lt"/>
              <a:cs typeface="+mn-lt"/>
            </a:endParaRPr>
          </a:p>
        </p:txBody>
      </p:sp>
      <p:sp>
        <p:nvSpPr>
          <p:cNvPr id="35" name="Shape 32"/>
          <p:cNvSpPr/>
          <p:nvPr/>
        </p:nvSpPr>
        <p:spPr>
          <a:xfrm>
            <a:off x="7077456" y="3182112"/>
            <a:ext cx="1508760" cy="347472"/>
          </a:xfrm>
          <a:prstGeom prst="rect">
            <a:avLst/>
          </a:prstGeom>
          <a:solidFill>
            <a:srgbClr val="8B5CF6">
              <a:alpha val="15000"/>
            </a:srgbClr>
          </a:solidFill>
          <a:ln w="6350">
            <a:solidFill>
              <a:srgbClr val="8B5CF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6" name="Text 33"/>
          <p:cNvSpPr/>
          <p:nvPr/>
        </p:nvSpPr>
        <p:spPr>
          <a:xfrm>
            <a:off x="7077456" y="3182112"/>
            <a:ext cx="1508760" cy="347472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ctr"/>
          <a:lstStyle/>
          <a:p>
            <a:pPr marL="0" indent="0" algn="ctr">
              <a:buNone/>
            </a:pPr>
            <a:r>
              <a:rPr lang="en-US" sz="1100" b="1">
                <a:solidFill>
                  <a:srgbClr val="8B5CF6"/>
                </a:solidFill>
                <a:latin typeface="Arial"/>
                <a:cs typeface="Arial"/>
              </a:rPr>
              <a:t>UX Designer</a:t>
            </a:r>
            <a:endParaRPr lang="en-US" sz="1100" b="1" dirty="0">
              <a:solidFill>
                <a:srgbClr val="8B5CF6"/>
              </a:solidFill>
              <a:latin typeface="Arial"/>
              <a:cs typeface="Arial"/>
            </a:endParaRPr>
          </a:p>
        </p:txBody>
      </p:sp>
      <p:sp>
        <p:nvSpPr>
          <p:cNvPr id="37" name="Text 34"/>
          <p:cNvSpPr/>
          <p:nvPr/>
        </p:nvSpPr>
        <p:spPr>
          <a:xfrm>
            <a:off x="6940296" y="3657600"/>
            <a:ext cx="1783080" cy="320040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ctr"/>
          <a:lstStyle/>
          <a:p>
            <a:pPr algn="ctr"/>
            <a:r>
              <a:rPr lang="en-US" sz="1200" dirty="0">
                <a:solidFill>
                  <a:srgbClr val="8B949E"/>
                </a:solidFill>
                <a:latin typeface="Arial"/>
                <a:cs typeface="Arial"/>
              </a:rPr>
              <a:t>Back-end Developer</a:t>
            </a:r>
            <a:endParaRPr lang="en-US" sz="1200" dirty="0">
              <a:latin typeface="Arial"/>
              <a:cs typeface="Arial"/>
            </a:endParaRPr>
          </a:p>
        </p:txBody>
      </p:sp>
      <p:pic>
        <p:nvPicPr>
          <p:cNvPr id="201" name="photo1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198614" y="1600200"/>
            <a:ext cx="914400" cy="914400"/>
          </a:xfrm>
          <a:prstGeom prst="ellipse">
            <a:avLst/>
          </a:prstGeom>
          <a:ln w="63500" cap="rnd">
            <a:solidFill>
              <a:srgbClr val="333333"/>
            </a:solidFill>
          </a:ln>
          <a:effectLst>
            <a:outerShdw blurRad="381000" dist="292100" dir="5400000" sx="-80000" sy="-18000" rotWithShape="0">
              <a:srgbClr val="000000">
                <a:alpha val="22000"/>
              </a:srgbClr>
            </a:outerShdw>
          </a:effectLst>
          <a:scene3d>
            <a:camera prst="orthographicFront"/>
            <a:lightRig rig="contrasting" dir="t">
              <a:rot lat="0" lon="0" rev="3000000"/>
            </a:lightRig>
          </a:scene3d>
          <a:sp3d contourW="7620">
            <a:bevelT w="95250" h="31750"/>
            <a:contourClr>
              <a:srgbClr val="333333"/>
            </a:contourClr>
          </a:sp3d>
        </p:spPr>
      </p:pic>
      <p:pic>
        <p:nvPicPr>
          <p:cNvPr id="204" name="photo4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021841" y="1600200"/>
            <a:ext cx="914400" cy="914400"/>
          </a:xfrm>
          <a:prstGeom prst="ellipse">
            <a:avLst/>
          </a:prstGeom>
          <a:ln w="63500" cap="rnd">
            <a:solidFill>
              <a:srgbClr val="333333"/>
            </a:solidFill>
          </a:ln>
          <a:effectLst>
            <a:outerShdw blurRad="381000" dist="292100" dir="5400000" sx="-80000" sy="-18000" rotWithShape="0">
              <a:srgbClr val="000000">
                <a:alpha val="22000"/>
              </a:srgbClr>
            </a:outerShdw>
          </a:effectLst>
          <a:scene3d>
            <a:camera prst="orthographicFront"/>
            <a:lightRig rig="contrasting" dir="t">
              <a:rot lat="0" lon="0" rev="3000000"/>
            </a:lightRig>
          </a:scene3d>
          <a:sp3d contourW="7620">
            <a:bevelT w="95250" h="31750"/>
            <a:contourClr>
              <a:srgbClr val="333333"/>
            </a:contourClr>
          </a:sp3d>
        </p:spPr>
      </p:pic>
      <p:pic>
        <p:nvPicPr>
          <p:cNvPr id="39" name="Picture 38">
            <a:extLst>
              <a:ext uri="{FF2B5EF4-FFF2-40B4-BE49-F238E27FC236}">
                <a16:creationId xmlns:a16="http://schemas.microsoft.com/office/drawing/2014/main" id="{3DA8D6E1-F35F-2DF9-0C17-9C467AE00F86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45569" y="1627632"/>
            <a:ext cx="914400" cy="914400"/>
          </a:xfrm>
          <a:prstGeom prst="ellipse">
            <a:avLst/>
          </a:prstGeom>
          <a:ln w="63500" cap="rnd">
            <a:solidFill>
              <a:srgbClr val="333333"/>
            </a:solidFill>
          </a:ln>
          <a:effectLst>
            <a:outerShdw blurRad="381000" dist="292100" dir="5400000" sx="-80000" sy="-18000" rotWithShape="0">
              <a:srgbClr val="000000">
                <a:alpha val="22000"/>
              </a:srgbClr>
            </a:outerShdw>
          </a:effectLst>
          <a:scene3d>
            <a:camera prst="orthographicFront"/>
            <a:lightRig rig="contrasting" dir="t">
              <a:rot lat="0" lon="0" rev="3000000"/>
            </a:lightRig>
          </a:scene3d>
          <a:sp3d contourW="7620">
            <a:bevelT w="95250" h="31750"/>
            <a:contourClr>
              <a:srgbClr val="333333"/>
            </a:contourClr>
          </a:sp3d>
        </p:spPr>
      </p:pic>
      <p:pic>
        <p:nvPicPr>
          <p:cNvPr id="41" name="Picture 40">
            <a:extLst>
              <a:ext uri="{FF2B5EF4-FFF2-40B4-BE49-F238E27FC236}">
                <a16:creationId xmlns:a16="http://schemas.microsoft.com/office/drawing/2014/main" id="{C0CE31B7-5F31-5A81-ACC1-E320C6A52821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374636" y="1586132"/>
            <a:ext cx="914400" cy="914400"/>
          </a:xfrm>
          <a:prstGeom prst="ellipse">
            <a:avLst/>
          </a:prstGeom>
          <a:ln w="63500" cap="rnd">
            <a:solidFill>
              <a:srgbClr val="333333"/>
            </a:solidFill>
          </a:ln>
          <a:effectLst>
            <a:outerShdw blurRad="381000" dist="292100" dir="5400000" sx="-80000" sy="-18000" rotWithShape="0">
              <a:srgbClr val="000000">
                <a:alpha val="22000"/>
              </a:srgbClr>
            </a:outerShdw>
          </a:effectLst>
          <a:scene3d>
            <a:camera prst="orthographicFront"/>
            <a:lightRig rig="contrasting" dir="t">
              <a:rot lat="0" lon="0" rev="3000000"/>
            </a:lightRig>
          </a:scene3d>
          <a:sp3d contourW="7620">
            <a:bevelT w="95250" h="31750"/>
            <a:contourClr>
              <a:srgbClr val="333333"/>
            </a:contourClr>
          </a:sp3d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2EA043"/>
          </a:solidFill>
          <a:ln w="12700">
            <a:solidFill>
              <a:srgbClr val="2EA04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320040" y="182880"/>
            <a:ext cx="8686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8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About the App</a:t>
            </a:r>
            <a:endParaRPr lang="en-US" sz="3800" dirty="0"/>
          </a:p>
        </p:txBody>
      </p:sp>
      <p:sp>
        <p:nvSpPr>
          <p:cNvPr id="4" name="Shape 2"/>
          <p:cNvSpPr/>
          <p:nvPr/>
        </p:nvSpPr>
        <p:spPr>
          <a:xfrm>
            <a:off x="320040" y="868680"/>
            <a:ext cx="8686800" cy="45720"/>
          </a:xfrm>
          <a:prstGeom prst="rect">
            <a:avLst/>
          </a:prstGeom>
          <a:solidFill>
            <a:srgbClr val="2EA043"/>
          </a:solidFill>
          <a:ln w="12700">
            <a:solidFill>
              <a:srgbClr val="2EA04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320040" y="1051560"/>
            <a:ext cx="5212080" cy="2926080"/>
          </a:xfrm>
          <a:prstGeom prst="rect">
            <a:avLst/>
          </a:prstGeom>
          <a:solidFill>
            <a:srgbClr val="1C2526"/>
          </a:solidFill>
          <a:ln w="6350">
            <a:solidFill>
              <a:srgbClr val="2EA04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502920" y="1188720"/>
            <a:ext cx="4846320" cy="2651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r>
              <a:rPr lang="en-US" dirty="0">
                <a:solidFill>
                  <a:srgbClr val="92D050"/>
                </a:solidFill>
              </a:rPr>
              <a:t>Binary Beasts </a:t>
            </a:r>
            <a:r>
              <a:rPr lang="en-US" sz="1350" dirty="0">
                <a:solidFill>
                  <a:srgbClr val="C9D1D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is a real-time web application that provides live match scores, player performance data, and deep tactical analytics for every professional football fixture worldwide.</a:t>
            </a:r>
            <a:endParaRPr lang="en-US" sz="1350" dirty="0"/>
          </a:p>
          <a:p>
            <a:pPr marL="0" indent="0" algn="l">
              <a:buNone/>
            </a:pPr>
            <a:endParaRPr lang="en-US" sz="1350" dirty="0"/>
          </a:p>
          <a:p>
            <a:pPr marL="0" indent="0" algn="l">
              <a:buNone/>
            </a:pPr>
            <a:r>
              <a:rPr lang="en-US" sz="1350" dirty="0">
                <a:solidFill>
                  <a:srgbClr val="C9D1D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Coaches and analysts can track live events, view heat maps and pass networks, and receive automatic post-match performance reports with AI-generated insights.</a:t>
            </a:r>
            <a:endParaRPr lang="en-US" sz="1350" dirty="0"/>
          </a:p>
          <a:p>
            <a:pPr marL="0" indent="0" algn="l">
              <a:buNone/>
            </a:pPr>
            <a:endParaRPr lang="en-US" sz="1350" dirty="0"/>
          </a:p>
          <a:p>
            <a:pPr marL="0" indent="0" algn="l">
              <a:buNone/>
            </a:pPr>
            <a:r>
              <a:rPr lang="en-US" sz="1350" dirty="0">
                <a:solidFill>
                  <a:srgbClr val="C9D1D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platform supports user accounts, customisable notification alerts for goals and cards, and a full match history dashboard spanning multiple competitions.</a:t>
            </a:r>
            <a:endParaRPr lang="en-US" sz="1350" dirty="0"/>
          </a:p>
        </p:txBody>
      </p:sp>
      <p:sp>
        <p:nvSpPr>
          <p:cNvPr id="7" name="Shape 5"/>
          <p:cNvSpPr/>
          <p:nvPr/>
        </p:nvSpPr>
        <p:spPr>
          <a:xfrm>
            <a:off x="5760720" y="1051560"/>
            <a:ext cx="3154680" cy="658368"/>
          </a:xfrm>
          <a:prstGeom prst="rect">
            <a:avLst/>
          </a:prstGeom>
          <a:solidFill>
            <a:srgbClr val="1C2526"/>
          </a:solidFill>
          <a:ln w="6350">
            <a:solidFill>
              <a:srgbClr val="2EA04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Shape 6"/>
          <p:cNvSpPr/>
          <p:nvPr/>
        </p:nvSpPr>
        <p:spPr>
          <a:xfrm>
            <a:off x="5760720" y="1051560"/>
            <a:ext cx="109728" cy="658368"/>
          </a:xfrm>
          <a:prstGeom prst="rect">
            <a:avLst/>
          </a:prstGeom>
          <a:solidFill>
            <a:srgbClr val="2EA043"/>
          </a:solidFill>
          <a:ln w="12700">
            <a:solidFill>
              <a:srgbClr val="2EA04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5989320" y="1097280"/>
            <a:ext cx="9144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400" b="1" dirty="0">
                <a:solidFill>
                  <a:srgbClr val="2EA043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50+</a:t>
            </a:r>
            <a:endParaRPr lang="en-US" sz="2400" dirty="0"/>
          </a:p>
        </p:txBody>
      </p:sp>
      <p:sp>
        <p:nvSpPr>
          <p:cNvPr id="10" name="Text 8"/>
          <p:cNvSpPr/>
          <p:nvPr/>
        </p:nvSpPr>
        <p:spPr>
          <a:xfrm>
            <a:off x="6949440" y="1097280"/>
            <a:ext cx="182880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300" dirty="0">
                <a:solidFill>
                  <a:srgbClr val="C9D1D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Leagues tracked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5760720" y="1801368"/>
            <a:ext cx="3154680" cy="658368"/>
          </a:xfrm>
          <a:prstGeom prst="rect">
            <a:avLst/>
          </a:prstGeom>
          <a:solidFill>
            <a:srgbClr val="1C2526"/>
          </a:solidFill>
          <a:ln w="6350">
            <a:solidFill>
              <a:srgbClr val="E53E6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Shape 10"/>
          <p:cNvSpPr/>
          <p:nvPr/>
        </p:nvSpPr>
        <p:spPr>
          <a:xfrm>
            <a:off x="5760720" y="1801368"/>
            <a:ext cx="109728" cy="658368"/>
          </a:xfrm>
          <a:prstGeom prst="rect">
            <a:avLst/>
          </a:prstGeom>
          <a:solidFill>
            <a:srgbClr val="E53E6D"/>
          </a:solidFill>
          <a:ln w="12700">
            <a:solidFill>
              <a:srgbClr val="E53E6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5989320" y="1847088"/>
            <a:ext cx="9144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400" b="1" dirty="0">
                <a:solidFill>
                  <a:srgbClr val="E53E6D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200+</a:t>
            </a:r>
            <a:endParaRPr lang="en-US" sz="2400" dirty="0"/>
          </a:p>
        </p:txBody>
      </p:sp>
      <p:sp>
        <p:nvSpPr>
          <p:cNvPr id="14" name="Text 12"/>
          <p:cNvSpPr/>
          <p:nvPr/>
        </p:nvSpPr>
        <p:spPr>
          <a:xfrm>
            <a:off x="6949440" y="1847088"/>
            <a:ext cx="182880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300" dirty="0">
                <a:solidFill>
                  <a:srgbClr val="C9D1D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Stats per match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5760720" y="2551176"/>
            <a:ext cx="3154680" cy="658368"/>
          </a:xfrm>
          <a:prstGeom prst="rect">
            <a:avLst/>
          </a:prstGeom>
          <a:solidFill>
            <a:srgbClr val="1C2526"/>
          </a:solidFill>
          <a:ln w="6350">
            <a:solidFill>
              <a:srgbClr val="3B82F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Shape 14"/>
          <p:cNvSpPr/>
          <p:nvPr/>
        </p:nvSpPr>
        <p:spPr>
          <a:xfrm>
            <a:off x="5760720" y="2551176"/>
            <a:ext cx="109728" cy="658368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5989320" y="2596896"/>
            <a:ext cx="9144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400" b="1" dirty="0">
                <a:solidFill>
                  <a:srgbClr val="3B82F6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1M+</a:t>
            </a:r>
            <a:endParaRPr lang="en-US" sz="2400" dirty="0"/>
          </a:p>
        </p:txBody>
      </p:sp>
      <p:sp>
        <p:nvSpPr>
          <p:cNvPr id="18" name="Text 16"/>
          <p:cNvSpPr/>
          <p:nvPr/>
        </p:nvSpPr>
        <p:spPr>
          <a:xfrm>
            <a:off x="6949440" y="2596896"/>
            <a:ext cx="182880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300" dirty="0">
                <a:solidFill>
                  <a:srgbClr val="C9D1D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Users worldwide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5760720" y="3300984"/>
            <a:ext cx="3154680" cy="658368"/>
          </a:xfrm>
          <a:prstGeom prst="rect">
            <a:avLst/>
          </a:prstGeom>
          <a:solidFill>
            <a:srgbClr val="1C2526"/>
          </a:solidFill>
          <a:ln w="6350">
            <a:solidFill>
              <a:srgbClr val="8B5CF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Shape 18"/>
          <p:cNvSpPr/>
          <p:nvPr/>
        </p:nvSpPr>
        <p:spPr>
          <a:xfrm>
            <a:off x="5760720" y="3300984"/>
            <a:ext cx="109728" cy="658368"/>
          </a:xfrm>
          <a:prstGeom prst="rect">
            <a:avLst/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/>
          <p:nvPr/>
        </p:nvSpPr>
        <p:spPr>
          <a:xfrm>
            <a:off x="5989320" y="3346704"/>
            <a:ext cx="9144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400" b="1" dirty="0">
                <a:solidFill>
                  <a:srgbClr val="8B5CF6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Live</a:t>
            </a:r>
            <a:endParaRPr lang="en-US" sz="2400" dirty="0"/>
          </a:p>
        </p:txBody>
      </p:sp>
      <p:sp>
        <p:nvSpPr>
          <p:cNvPr id="22" name="Text 20"/>
          <p:cNvSpPr/>
          <p:nvPr/>
        </p:nvSpPr>
        <p:spPr>
          <a:xfrm>
            <a:off x="6949440" y="3346704"/>
            <a:ext cx="182880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300" dirty="0">
                <a:solidFill>
                  <a:srgbClr val="C9D1D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 updates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320040" y="4480560"/>
            <a:ext cx="8686800" cy="320040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ctr"/>
          <a:lstStyle/>
          <a:p>
            <a:pPr algn="ctr"/>
            <a:r>
              <a:rPr lang="en-US" sz="1100" i="1" dirty="0">
                <a:solidFill>
                  <a:srgbClr val="8B949E"/>
                </a:solidFill>
                <a:latin typeface="Arial"/>
                <a:ea typeface="Arial" pitchFamily="34" charset="-122"/>
                <a:cs typeface="Arial"/>
              </a:rPr>
              <a:t>Coverage: Premier League · La Liga · Bundesliga  |  Platform: Web &amp; Mobile  |  Data: Live API</a:t>
            </a:r>
            <a:endParaRPr lang="en-US" sz="1100">
              <a:latin typeface="Arial"/>
              <a:ea typeface="Calibri"/>
              <a:cs typeface="Calibri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0FFF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0D1117"/>
          </a:solidFill>
          <a:ln w="12700">
            <a:solidFill>
              <a:srgbClr val="0D111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8600" y="91440"/>
            <a:ext cx="667512" cy="54864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005840" y="109728"/>
            <a:ext cx="78638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4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Development Roadmap</a:t>
            </a:r>
            <a:endParaRPr lang="en-US" sz="3400" dirty="0"/>
          </a:p>
        </p:txBody>
      </p:sp>
      <p:sp>
        <p:nvSpPr>
          <p:cNvPr id="5" name="Shape 2"/>
          <p:cNvSpPr/>
          <p:nvPr/>
        </p:nvSpPr>
        <p:spPr>
          <a:xfrm>
            <a:off x="0" y="1005840"/>
            <a:ext cx="9144000" cy="64008"/>
          </a:xfrm>
          <a:prstGeom prst="rect">
            <a:avLst/>
          </a:prstGeom>
          <a:solidFill>
            <a:srgbClr val="2EA043"/>
          </a:solidFill>
          <a:ln w="12700">
            <a:solidFill>
              <a:srgbClr val="2EA04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Shape 3"/>
          <p:cNvSpPr/>
          <p:nvPr/>
        </p:nvSpPr>
        <p:spPr>
          <a:xfrm>
            <a:off x="274320" y="1188720"/>
            <a:ext cx="1417320" cy="658368"/>
          </a:xfrm>
          <a:prstGeom prst="rect">
            <a:avLst/>
          </a:prstGeom>
          <a:solidFill>
            <a:srgbClr val="2EA043"/>
          </a:solidFill>
          <a:ln w="12700">
            <a:solidFill>
              <a:srgbClr val="2EA04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4"/>
          <p:cNvSpPr/>
          <p:nvPr/>
        </p:nvSpPr>
        <p:spPr>
          <a:xfrm>
            <a:off x="274320" y="1188720"/>
            <a:ext cx="14173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WEEK 1</a:t>
            </a:r>
            <a:endParaRPr lang="en-US" sz="1300" dirty="0"/>
          </a:p>
        </p:txBody>
      </p:sp>
      <p:sp>
        <p:nvSpPr>
          <p:cNvPr id="8" name="Shape 5"/>
          <p:cNvSpPr/>
          <p:nvPr/>
        </p:nvSpPr>
        <p:spPr>
          <a:xfrm>
            <a:off x="1691640" y="1463040"/>
            <a:ext cx="274320" cy="109728"/>
          </a:xfrm>
          <a:prstGeom prst="rect">
            <a:avLst/>
          </a:prstGeom>
          <a:solidFill>
            <a:srgbClr val="2EA043"/>
          </a:solidFill>
          <a:ln w="12700">
            <a:solidFill>
              <a:srgbClr val="2EA04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Shape 6"/>
          <p:cNvSpPr/>
          <p:nvPr/>
        </p:nvSpPr>
        <p:spPr>
          <a:xfrm>
            <a:off x="1965960" y="1188720"/>
            <a:ext cx="6858000" cy="658368"/>
          </a:xfrm>
          <a:prstGeom prst="rect">
            <a:avLst/>
          </a:prstGeom>
          <a:solidFill>
            <a:srgbClr val="FFFFFF"/>
          </a:solidFill>
          <a:ln w="6350">
            <a:solidFill>
              <a:srgbClr val="2EA04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Shape 7"/>
          <p:cNvSpPr/>
          <p:nvPr/>
        </p:nvSpPr>
        <p:spPr>
          <a:xfrm>
            <a:off x="1965960" y="1188720"/>
            <a:ext cx="91440" cy="658368"/>
          </a:xfrm>
          <a:prstGeom prst="rect">
            <a:avLst/>
          </a:prstGeom>
          <a:solidFill>
            <a:srgbClr val="2EA043"/>
          </a:solidFill>
          <a:ln w="12700">
            <a:solidFill>
              <a:srgbClr val="2EA04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8"/>
          <p:cNvSpPr/>
          <p:nvPr/>
        </p:nvSpPr>
        <p:spPr>
          <a:xfrm>
            <a:off x="2148840" y="1225296"/>
            <a:ext cx="6492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0D11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Requirements &amp; Design</a:t>
            </a:r>
            <a:endParaRPr lang="en-US" sz="1400" dirty="0"/>
          </a:p>
        </p:txBody>
      </p:sp>
      <p:sp>
        <p:nvSpPr>
          <p:cNvPr id="12" name="Text 9"/>
          <p:cNvSpPr/>
          <p:nvPr/>
        </p:nvSpPr>
        <p:spPr>
          <a:xfrm>
            <a:off x="2148840" y="1481328"/>
            <a:ext cx="64922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5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Stakeholder interviews, feature scoping, wireframe sketches, database schema design and tech stack selection.</a:t>
            </a:r>
            <a:endParaRPr lang="en-US" sz="1150" dirty="0"/>
          </a:p>
        </p:txBody>
      </p:sp>
      <p:sp>
        <p:nvSpPr>
          <p:cNvPr id="13" name="Shape 10"/>
          <p:cNvSpPr/>
          <p:nvPr/>
        </p:nvSpPr>
        <p:spPr>
          <a:xfrm>
            <a:off x="274320" y="2103120"/>
            <a:ext cx="1417320" cy="658368"/>
          </a:xfrm>
          <a:prstGeom prst="rect">
            <a:avLst/>
          </a:prstGeom>
          <a:solidFill>
            <a:srgbClr val="E53E6D"/>
          </a:solidFill>
          <a:ln w="12700">
            <a:solidFill>
              <a:srgbClr val="E53E6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1"/>
          <p:cNvSpPr/>
          <p:nvPr/>
        </p:nvSpPr>
        <p:spPr>
          <a:xfrm>
            <a:off x="274320" y="2103120"/>
            <a:ext cx="14173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WEEK 2</a:t>
            </a:r>
            <a:endParaRPr lang="en-US" sz="1300" dirty="0"/>
          </a:p>
        </p:txBody>
      </p:sp>
      <p:sp>
        <p:nvSpPr>
          <p:cNvPr id="15" name="Shape 12"/>
          <p:cNvSpPr/>
          <p:nvPr/>
        </p:nvSpPr>
        <p:spPr>
          <a:xfrm>
            <a:off x="1691640" y="2377440"/>
            <a:ext cx="274320" cy="109728"/>
          </a:xfrm>
          <a:prstGeom prst="rect">
            <a:avLst/>
          </a:prstGeom>
          <a:solidFill>
            <a:srgbClr val="E53E6D"/>
          </a:solidFill>
          <a:ln w="12700">
            <a:solidFill>
              <a:srgbClr val="E53E6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Shape 13"/>
          <p:cNvSpPr/>
          <p:nvPr/>
        </p:nvSpPr>
        <p:spPr>
          <a:xfrm>
            <a:off x="1965960" y="2103120"/>
            <a:ext cx="6858000" cy="658368"/>
          </a:xfrm>
          <a:prstGeom prst="rect">
            <a:avLst/>
          </a:prstGeom>
          <a:solidFill>
            <a:srgbClr val="FFFFFF"/>
          </a:solidFill>
          <a:ln w="6350">
            <a:solidFill>
              <a:srgbClr val="E53E6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Shape 14"/>
          <p:cNvSpPr/>
          <p:nvPr/>
        </p:nvSpPr>
        <p:spPr>
          <a:xfrm>
            <a:off x="1965960" y="2103120"/>
            <a:ext cx="91440" cy="658368"/>
          </a:xfrm>
          <a:prstGeom prst="rect">
            <a:avLst/>
          </a:prstGeom>
          <a:solidFill>
            <a:srgbClr val="E53E6D"/>
          </a:solidFill>
          <a:ln w="12700">
            <a:solidFill>
              <a:srgbClr val="E53E6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Text 15"/>
          <p:cNvSpPr/>
          <p:nvPr/>
        </p:nvSpPr>
        <p:spPr>
          <a:xfrm>
            <a:off x="2148840" y="2139696"/>
            <a:ext cx="6492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0D11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 &amp; API Layer</a:t>
            </a:r>
            <a:endParaRPr lang="en-US" sz="1400" dirty="0"/>
          </a:p>
        </p:txBody>
      </p:sp>
      <p:sp>
        <p:nvSpPr>
          <p:cNvPr id="19" name="Text 16"/>
          <p:cNvSpPr/>
          <p:nvPr/>
        </p:nvSpPr>
        <p:spPr>
          <a:xfrm>
            <a:off x="2148840" y="2395728"/>
            <a:ext cx="64922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5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Integrated live football data API, built database models for matches, players, and events, set up WebSocket streaming.</a:t>
            </a:r>
            <a:endParaRPr lang="en-US" sz="1150" dirty="0"/>
          </a:p>
        </p:txBody>
      </p:sp>
      <p:sp>
        <p:nvSpPr>
          <p:cNvPr id="20" name="Shape 17"/>
          <p:cNvSpPr/>
          <p:nvPr/>
        </p:nvSpPr>
        <p:spPr>
          <a:xfrm>
            <a:off x="274320" y="3017520"/>
            <a:ext cx="1417320" cy="658368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Text 18"/>
          <p:cNvSpPr/>
          <p:nvPr/>
        </p:nvSpPr>
        <p:spPr>
          <a:xfrm>
            <a:off x="274320" y="3017520"/>
            <a:ext cx="14173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WEEK 3</a:t>
            </a:r>
            <a:endParaRPr lang="en-US" sz="1300" dirty="0"/>
          </a:p>
        </p:txBody>
      </p:sp>
      <p:sp>
        <p:nvSpPr>
          <p:cNvPr id="22" name="Shape 19"/>
          <p:cNvSpPr/>
          <p:nvPr/>
        </p:nvSpPr>
        <p:spPr>
          <a:xfrm>
            <a:off x="1691640" y="3291840"/>
            <a:ext cx="274320" cy="109728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Shape 20"/>
          <p:cNvSpPr/>
          <p:nvPr/>
        </p:nvSpPr>
        <p:spPr>
          <a:xfrm>
            <a:off x="1965960" y="3017520"/>
            <a:ext cx="6858000" cy="658368"/>
          </a:xfrm>
          <a:prstGeom prst="rect">
            <a:avLst/>
          </a:prstGeom>
          <a:solidFill>
            <a:srgbClr val="FFFFFF"/>
          </a:solidFill>
          <a:ln w="6350">
            <a:solidFill>
              <a:srgbClr val="3B82F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Shape 21"/>
          <p:cNvSpPr/>
          <p:nvPr/>
        </p:nvSpPr>
        <p:spPr>
          <a:xfrm>
            <a:off x="1965960" y="3017520"/>
            <a:ext cx="91440" cy="658368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" name="Text 22"/>
          <p:cNvSpPr/>
          <p:nvPr/>
        </p:nvSpPr>
        <p:spPr>
          <a:xfrm>
            <a:off x="2148840" y="3054096"/>
            <a:ext cx="6492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0D11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Core Features</a:t>
            </a:r>
            <a:endParaRPr lang="en-US" sz="1400" dirty="0"/>
          </a:p>
        </p:txBody>
      </p:sp>
      <p:sp>
        <p:nvSpPr>
          <p:cNvPr id="26" name="Text 23"/>
          <p:cNvSpPr/>
          <p:nvPr/>
        </p:nvSpPr>
        <p:spPr>
          <a:xfrm>
            <a:off x="2148840" y="3310128"/>
            <a:ext cx="64922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5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Built live scoreboard, player stat cards, heat map renderer, pass network graph, and user notification system.</a:t>
            </a:r>
            <a:endParaRPr lang="en-US" sz="1150" dirty="0"/>
          </a:p>
        </p:txBody>
      </p:sp>
      <p:sp>
        <p:nvSpPr>
          <p:cNvPr id="27" name="Shape 24"/>
          <p:cNvSpPr/>
          <p:nvPr/>
        </p:nvSpPr>
        <p:spPr>
          <a:xfrm>
            <a:off x="274320" y="3931920"/>
            <a:ext cx="1417320" cy="658368"/>
          </a:xfrm>
          <a:prstGeom prst="rect">
            <a:avLst/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8" name="Text 25"/>
          <p:cNvSpPr/>
          <p:nvPr/>
        </p:nvSpPr>
        <p:spPr>
          <a:xfrm>
            <a:off x="274320" y="3931920"/>
            <a:ext cx="14173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WEEK 4</a:t>
            </a:r>
            <a:endParaRPr lang="en-US" sz="1300" dirty="0"/>
          </a:p>
        </p:txBody>
      </p:sp>
      <p:sp>
        <p:nvSpPr>
          <p:cNvPr id="29" name="Shape 26"/>
          <p:cNvSpPr/>
          <p:nvPr/>
        </p:nvSpPr>
        <p:spPr>
          <a:xfrm>
            <a:off x="1691640" y="4206240"/>
            <a:ext cx="274320" cy="109728"/>
          </a:xfrm>
          <a:prstGeom prst="rect">
            <a:avLst/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0" name="Shape 27"/>
          <p:cNvSpPr/>
          <p:nvPr/>
        </p:nvSpPr>
        <p:spPr>
          <a:xfrm>
            <a:off x="1965960" y="3931920"/>
            <a:ext cx="6858000" cy="658368"/>
          </a:xfrm>
          <a:prstGeom prst="rect">
            <a:avLst/>
          </a:prstGeom>
          <a:solidFill>
            <a:srgbClr val="FFFFFF"/>
          </a:solidFill>
          <a:ln w="6350">
            <a:solidFill>
              <a:srgbClr val="8B5CF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1" name="Shape 28"/>
          <p:cNvSpPr/>
          <p:nvPr/>
        </p:nvSpPr>
        <p:spPr>
          <a:xfrm>
            <a:off x="1965960" y="3931920"/>
            <a:ext cx="91440" cy="658368"/>
          </a:xfrm>
          <a:prstGeom prst="rect">
            <a:avLst/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2" name="Text 29"/>
          <p:cNvSpPr/>
          <p:nvPr/>
        </p:nvSpPr>
        <p:spPr>
          <a:xfrm>
            <a:off x="2148840" y="3968496"/>
            <a:ext cx="6492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0D11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Testing &amp; Launch</a:t>
            </a:r>
            <a:endParaRPr lang="en-US" sz="1400" dirty="0"/>
          </a:p>
        </p:txBody>
      </p:sp>
      <p:sp>
        <p:nvSpPr>
          <p:cNvPr id="33" name="Text 30"/>
          <p:cNvSpPr/>
          <p:nvPr/>
        </p:nvSpPr>
        <p:spPr>
          <a:xfrm>
            <a:off x="2148840" y="4224528"/>
            <a:ext cx="64922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5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End-to-end testing, performance optimisation, beta user feedback, bug fixes, documentation and public release.</a:t>
            </a:r>
            <a:endParaRPr lang="en-US" sz="11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2EA043"/>
          </a:solidFill>
          <a:ln w="12700">
            <a:solidFill>
              <a:srgbClr val="2EA04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320040" y="164592"/>
            <a:ext cx="86868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6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Tech Stack</a:t>
            </a:r>
            <a:endParaRPr lang="en-US" sz="3600" dirty="0"/>
          </a:p>
        </p:txBody>
      </p:sp>
      <p:sp>
        <p:nvSpPr>
          <p:cNvPr id="4" name="Shape 2"/>
          <p:cNvSpPr/>
          <p:nvPr/>
        </p:nvSpPr>
        <p:spPr>
          <a:xfrm>
            <a:off x="320040" y="822960"/>
            <a:ext cx="8686800" cy="45720"/>
          </a:xfrm>
          <a:prstGeom prst="rect">
            <a:avLst/>
          </a:prstGeom>
          <a:solidFill>
            <a:srgbClr val="2EA043"/>
          </a:solidFill>
          <a:ln w="12700">
            <a:solidFill>
              <a:srgbClr val="2EA04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320040" y="1005840"/>
            <a:ext cx="4297680" cy="1005840"/>
          </a:xfrm>
          <a:prstGeom prst="rect">
            <a:avLst/>
          </a:prstGeom>
          <a:solidFill>
            <a:srgbClr val="1C2526"/>
          </a:solidFill>
          <a:ln w="6350">
            <a:solidFill>
              <a:srgbClr val="2EA04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320040" y="1005840"/>
            <a:ext cx="91440" cy="1005840"/>
          </a:xfrm>
          <a:prstGeom prst="rect">
            <a:avLst/>
          </a:prstGeom>
          <a:solidFill>
            <a:srgbClr val="2EA043"/>
          </a:solidFill>
          <a:ln w="12700">
            <a:solidFill>
              <a:srgbClr val="2EA04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521208" y="1078992"/>
            <a:ext cx="4023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React &amp; TypeScript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521208" y="1463040"/>
            <a:ext cx="4023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Frontend framework for live dashboard UI and real-time updates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4800600" y="1005840"/>
            <a:ext cx="4297680" cy="1005840"/>
          </a:xfrm>
          <a:prstGeom prst="rect">
            <a:avLst/>
          </a:prstGeom>
          <a:solidFill>
            <a:srgbClr val="1C2526"/>
          </a:solidFill>
          <a:ln w="6350">
            <a:solidFill>
              <a:srgbClr val="56D36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Shape 8"/>
          <p:cNvSpPr/>
          <p:nvPr/>
        </p:nvSpPr>
        <p:spPr>
          <a:xfrm>
            <a:off x="4800600" y="1005840"/>
            <a:ext cx="91440" cy="1005840"/>
          </a:xfrm>
          <a:prstGeom prst="rect">
            <a:avLst/>
          </a:prstGeom>
          <a:solidFill>
            <a:srgbClr val="56D364"/>
          </a:solidFill>
          <a:ln w="12700">
            <a:solidFill>
              <a:srgbClr val="56D36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5001768" y="1078992"/>
            <a:ext cx="4023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b="1" dirty="0" err="1">
                <a:solidFill>
                  <a:srgbClr val="FFFFFF"/>
                </a:solidFill>
                <a:latin typeface="Arial"/>
                <a:cs typeface="Arial"/>
              </a:rPr>
              <a:t>Node.js &amp; Express</a:t>
            </a:r>
            <a:endParaRPr lang="en-US" sz="1500" dirty="0" err="1"/>
          </a:p>
        </p:txBody>
      </p:sp>
      <p:sp>
        <p:nvSpPr>
          <p:cNvPr id="12" name="Text 10"/>
          <p:cNvSpPr/>
          <p:nvPr/>
        </p:nvSpPr>
        <p:spPr>
          <a:xfrm>
            <a:off x="5001768" y="1463040"/>
            <a:ext cx="4023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200" dirty="0">
                <a:solidFill>
                  <a:srgbClr val="8B949E"/>
                </a:solidFill>
                <a:ea typeface="+mn-lt"/>
                <a:cs typeface="+mn-lt"/>
              </a:rPr>
              <a:t>REST and WebSocket API server handling live event streams</a:t>
            </a:r>
            <a:endParaRPr lang="en-US" dirty="0"/>
          </a:p>
        </p:txBody>
      </p:sp>
      <p:sp>
        <p:nvSpPr>
          <p:cNvPr id="13" name="Shape 11"/>
          <p:cNvSpPr/>
          <p:nvPr/>
        </p:nvSpPr>
        <p:spPr>
          <a:xfrm>
            <a:off x="320040" y="2212848"/>
            <a:ext cx="4297680" cy="1005840"/>
          </a:xfrm>
          <a:prstGeom prst="rect">
            <a:avLst/>
          </a:prstGeom>
          <a:solidFill>
            <a:srgbClr val="1C2526"/>
          </a:solidFill>
          <a:ln w="6350">
            <a:solidFill>
              <a:srgbClr val="E53E6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Shape 12"/>
          <p:cNvSpPr/>
          <p:nvPr/>
        </p:nvSpPr>
        <p:spPr>
          <a:xfrm>
            <a:off x="320040" y="2212848"/>
            <a:ext cx="91440" cy="1005840"/>
          </a:xfrm>
          <a:prstGeom prst="rect">
            <a:avLst/>
          </a:prstGeom>
          <a:solidFill>
            <a:srgbClr val="E53E6D"/>
          </a:solidFill>
          <a:ln w="12700">
            <a:solidFill>
              <a:srgbClr val="E53E6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521208" y="2286000"/>
            <a:ext cx="4023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PostgreSQL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521208" y="2670048"/>
            <a:ext cx="4023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Relational database for match history, player stats, and users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4800600" y="2212848"/>
            <a:ext cx="4297680" cy="1005840"/>
          </a:xfrm>
          <a:prstGeom prst="rect">
            <a:avLst/>
          </a:prstGeom>
          <a:solidFill>
            <a:srgbClr val="1C2526"/>
          </a:solidFill>
          <a:ln w="6350">
            <a:solidFill>
              <a:srgbClr val="3B82F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Shape 16"/>
          <p:cNvSpPr/>
          <p:nvPr/>
        </p:nvSpPr>
        <p:spPr>
          <a:xfrm>
            <a:off x="4800600" y="2212848"/>
            <a:ext cx="91440" cy="1005840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/>
          <p:nvPr/>
        </p:nvSpPr>
        <p:spPr>
          <a:xfrm>
            <a:off x="5001768" y="2286000"/>
            <a:ext cx="4023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Football Data API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5001768" y="2670048"/>
            <a:ext cx="4023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Third-party API providing live scores, fixtures, and lineups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320040" y="3419856"/>
            <a:ext cx="4297680" cy="1005840"/>
          </a:xfrm>
          <a:prstGeom prst="rect">
            <a:avLst/>
          </a:prstGeom>
          <a:solidFill>
            <a:srgbClr val="1C2526"/>
          </a:solidFill>
          <a:ln w="6350">
            <a:solidFill>
              <a:srgbClr val="8B5CF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Shape 20"/>
          <p:cNvSpPr/>
          <p:nvPr/>
        </p:nvSpPr>
        <p:spPr>
          <a:xfrm>
            <a:off x="320040" y="3419856"/>
            <a:ext cx="91440" cy="1005840"/>
          </a:xfrm>
          <a:prstGeom prst="rect">
            <a:avLst/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Text 21"/>
          <p:cNvSpPr/>
          <p:nvPr/>
        </p:nvSpPr>
        <p:spPr>
          <a:xfrm>
            <a:off x="521208" y="3493008"/>
            <a:ext cx="4023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Redis &amp; WebSockets</a:t>
            </a:r>
            <a:endParaRPr lang="en-US" sz="1500" dirty="0"/>
          </a:p>
        </p:txBody>
      </p:sp>
      <p:sp>
        <p:nvSpPr>
          <p:cNvPr id="24" name="Text 22"/>
          <p:cNvSpPr/>
          <p:nvPr/>
        </p:nvSpPr>
        <p:spPr>
          <a:xfrm>
            <a:off x="521208" y="3877056"/>
            <a:ext cx="4023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In-memory caching and push notifications for live match events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4800600" y="3419856"/>
            <a:ext cx="4297680" cy="1005840"/>
          </a:xfrm>
          <a:prstGeom prst="rect">
            <a:avLst/>
          </a:prstGeom>
          <a:solidFill>
            <a:srgbClr val="1C2526"/>
          </a:solidFill>
          <a:ln w="635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" name="Shape 24"/>
          <p:cNvSpPr/>
          <p:nvPr/>
        </p:nvSpPr>
        <p:spPr>
          <a:xfrm>
            <a:off x="4800600" y="3419856"/>
            <a:ext cx="91440" cy="100584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7" name="Text 25"/>
          <p:cNvSpPr/>
          <p:nvPr/>
        </p:nvSpPr>
        <p:spPr>
          <a:xfrm>
            <a:off x="5001768" y="3493008"/>
            <a:ext cx="4023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Docker &amp; AWS</a:t>
            </a:r>
            <a:endParaRPr lang="en-US" sz="1500" dirty="0"/>
          </a:p>
        </p:txBody>
      </p:sp>
      <p:sp>
        <p:nvSpPr>
          <p:cNvPr id="28" name="Text 26"/>
          <p:cNvSpPr/>
          <p:nvPr/>
        </p:nvSpPr>
        <p:spPr>
          <a:xfrm>
            <a:off x="5001768" y="3877056"/>
            <a:ext cx="4023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Containerised deployment on cloud infrastructure for scale</a:t>
            </a:r>
            <a:endParaRPr lang="en-US" sz="1200" dirty="0"/>
          </a:p>
        </p:txBody>
      </p:sp>
      <p:sp>
        <p:nvSpPr>
          <p:cNvPr id="29" name="Shape 27"/>
          <p:cNvSpPr/>
          <p:nvPr/>
        </p:nvSpPr>
        <p:spPr>
          <a:xfrm>
            <a:off x="320040" y="4709160"/>
            <a:ext cx="8686800" cy="45720"/>
          </a:xfrm>
          <a:prstGeom prst="rect">
            <a:avLst/>
          </a:prstGeom>
          <a:solidFill>
            <a:srgbClr val="E53E6D"/>
          </a:solidFill>
          <a:ln w="12700">
            <a:solidFill>
              <a:srgbClr val="E53E6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0" name="Text 28"/>
          <p:cNvSpPr/>
          <p:nvPr/>
        </p:nvSpPr>
        <p:spPr>
          <a:xfrm>
            <a:off x="320040" y="4773168"/>
            <a:ext cx="8686800" cy="274320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ctr"/>
          <a:lstStyle/>
          <a:p>
            <a:pPr marL="0" indent="0" algn="ctr">
              <a:buNone/>
            </a:pPr>
            <a:endParaRPr lang="en-US" sz="1000" i="1" dirty="0">
              <a:solidFill>
                <a:srgbClr val="8B949E"/>
              </a:solidFill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0FFF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0D1117"/>
          </a:solidFill>
          <a:ln w="12700">
            <a:solidFill>
              <a:srgbClr val="0D111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8600" y="91440"/>
            <a:ext cx="667512" cy="54864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005840" y="109728"/>
            <a:ext cx="78638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6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Key Features</a:t>
            </a:r>
            <a:endParaRPr lang="en-US" sz="3600" dirty="0"/>
          </a:p>
        </p:txBody>
      </p:sp>
      <p:sp>
        <p:nvSpPr>
          <p:cNvPr id="5" name="Shape 2"/>
          <p:cNvSpPr/>
          <p:nvPr/>
        </p:nvSpPr>
        <p:spPr>
          <a:xfrm>
            <a:off x="0" y="1005840"/>
            <a:ext cx="9144000" cy="64008"/>
          </a:xfrm>
          <a:prstGeom prst="rect">
            <a:avLst/>
          </a:prstGeom>
          <a:solidFill>
            <a:srgbClr val="2EA043"/>
          </a:solidFill>
          <a:ln w="12700">
            <a:solidFill>
              <a:srgbClr val="2EA04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Shape 3"/>
          <p:cNvSpPr/>
          <p:nvPr/>
        </p:nvSpPr>
        <p:spPr>
          <a:xfrm>
            <a:off x="274320" y="1170432"/>
            <a:ext cx="4251960" cy="1078992"/>
          </a:xfrm>
          <a:prstGeom prst="rect">
            <a:avLst/>
          </a:prstGeom>
          <a:solidFill>
            <a:srgbClr val="FFFFFF"/>
          </a:solidFill>
          <a:ln w="6350">
            <a:solidFill>
              <a:srgbClr val="E0E0E0"/>
            </a:solidFill>
            <a:prstDash val="solid"/>
          </a:ln>
          <a:effectLst>
            <a:outerShdw blurRad="762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7" name="Shape 4"/>
          <p:cNvSpPr/>
          <p:nvPr/>
        </p:nvSpPr>
        <p:spPr>
          <a:xfrm>
            <a:off x="274320" y="1170432"/>
            <a:ext cx="109728" cy="1078992"/>
          </a:xfrm>
          <a:prstGeom prst="rect">
            <a:avLst/>
          </a:prstGeom>
          <a:solidFill>
            <a:srgbClr val="2EA043"/>
          </a:solidFill>
          <a:ln w="12700">
            <a:solidFill>
              <a:srgbClr val="2EA04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Shape 5"/>
          <p:cNvSpPr/>
          <p:nvPr/>
        </p:nvSpPr>
        <p:spPr>
          <a:xfrm>
            <a:off x="502920" y="1289304"/>
            <a:ext cx="201168" cy="201168"/>
          </a:xfrm>
          <a:prstGeom prst="ellipse">
            <a:avLst/>
          </a:prstGeom>
          <a:solidFill>
            <a:srgbClr val="2EA043"/>
          </a:solidFill>
          <a:ln w="12700">
            <a:solidFill>
              <a:srgbClr val="2EA04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6"/>
          <p:cNvSpPr/>
          <p:nvPr/>
        </p:nvSpPr>
        <p:spPr>
          <a:xfrm>
            <a:off x="777240" y="1234440"/>
            <a:ext cx="3657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50" b="1" dirty="0">
                <a:solidFill>
                  <a:srgbClr val="0D11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Live Score Feed</a:t>
            </a:r>
            <a:endParaRPr lang="en-US" sz="1350" dirty="0"/>
          </a:p>
        </p:txBody>
      </p:sp>
      <p:sp>
        <p:nvSpPr>
          <p:cNvPr id="10" name="Text 7"/>
          <p:cNvSpPr/>
          <p:nvPr/>
        </p:nvSpPr>
        <p:spPr>
          <a:xfrm>
            <a:off x="502920" y="1627632"/>
            <a:ext cx="39319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5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Real-time goal, card, and substitution alerts pushed to all connected users instantly.</a:t>
            </a:r>
            <a:endParaRPr lang="en-US" sz="1150" dirty="0"/>
          </a:p>
        </p:txBody>
      </p:sp>
      <p:sp>
        <p:nvSpPr>
          <p:cNvPr id="11" name="Shape 8"/>
          <p:cNvSpPr/>
          <p:nvPr/>
        </p:nvSpPr>
        <p:spPr>
          <a:xfrm>
            <a:off x="4754880" y="1170432"/>
            <a:ext cx="4251960" cy="1078992"/>
          </a:xfrm>
          <a:prstGeom prst="rect">
            <a:avLst/>
          </a:prstGeom>
          <a:solidFill>
            <a:srgbClr val="FFFFFF"/>
          </a:solidFill>
          <a:ln w="6350">
            <a:solidFill>
              <a:srgbClr val="E0E0E0"/>
            </a:solidFill>
            <a:prstDash val="solid"/>
          </a:ln>
          <a:effectLst>
            <a:outerShdw blurRad="762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2" name="Shape 9"/>
          <p:cNvSpPr/>
          <p:nvPr/>
        </p:nvSpPr>
        <p:spPr>
          <a:xfrm>
            <a:off x="4754880" y="1170432"/>
            <a:ext cx="109728" cy="1078992"/>
          </a:xfrm>
          <a:prstGeom prst="rect">
            <a:avLst/>
          </a:prstGeom>
          <a:solidFill>
            <a:srgbClr val="E53E6D"/>
          </a:solidFill>
          <a:ln w="12700">
            <a:solidFill>
              <a:srgbClr val="E53E6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Shape 10"/>
          <p:cNvSpPr/>
          <p:nvPr/>
        </p:nvSpPr>
        <p:spPr>
          <a:xfrm>
            <a:off x="4983480" y="1289304"/>
            <a:ext cx="201168" cy="201168"/>
          </a:xfrm>
          <a:prstGeom prst="ellipse">
            <a:avLst/>
          </a:prstGeom>
          <a:solidFill>
            <a:srgbClr val="E53E6D"/>
          </a:solidFill>
          <a:ln w="12700">
            <a:solidFill>
              <a:srgbClr val="E53E6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1"/>
          <p:cNvSpPr/>
          <p:nvPr/>
        </p:nvSpPr>
        <p:spPr>
          <a:xfrm>
            <a:off x="5257800" y="1234440"/>
            <a:ext cx="3657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50" b="1" dirty="0">
                <a:solidFill>
                  <a:srgbClr val="0D11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Player Statistics</a:t>
            </a:r>
            <a:endParaRPr lang="en-US" sz="1350" dirty="0"/>
          </a:p>
        </p:txBody>
      </p:sp>
      <p:sp>
        <p:nvSpPr>
          <p:cNvPr id="15" name="Text 12"/>
          <p:cNvSpPr/>
          <p:nvPr/>
        </p:nvSpPr>
        <p:spPr>
          <a:xfrm>
            <a:off x="4983480" y="1627632"/>
            <a:ext cx="39319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5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200+ per-player metrics: xG, pass accuracy, distance covered, dribbles, and more.</a:t>
            </a:r>
            <a:endParaRPr lang="en-US" sz="1150" dirty="0"/>
          </a:p>
        </p:txBody>
      </p:sp>
      <p:sp>
        <p:nvSpPr>
          <p:cNvPr id="16" name="Shape 13"/>
          <p:cNvSpPr/>
          <p:nvPr/>
        </p:nvSpPr>
        <p:spPr>
          <a:xfrm>
            <a:off x="274320" y="2414016"/>
            <a:ext cx="4251960" cy="1078992"/>
          </a:xfrm>
          <a:prstGeom prst="rect">
            <a:avLst/>
          </a:prstGeom>
          <a:solidFill>
            <a:srgbClr val="FFFFFF"/>
          </a:solidFill>
          <a:ln w="6350">
            <a:solidFill>
              <a:srgbClr val="E0E0E0"/>
            </a:solidFill>
            <a:prstDash val="solid"/>
          </a:ln>
          <a:effectLst>
            <a:outerShdw blurRad="762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7" name="Shape 14"/>
          <p:cNvSpPr/>
          <p:nvPr/>
        </p:nvSpPr>
        <p:spPr>
          <a:xfrm>
            <a:off x="274320" y="2414016"/>
            <a:ext cx="109728" cy="1078992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Shape 15"/>
          <p:cNvSpPr/>
          <p:nvPr/>
        </p:nvSpPr>
        <p:spPr>
          <a:xfrm>
            <a:off x="502920" y="2532888"/>
            <a:ext cx="201168" cy="201168"/>
          </a:xfrm>
          <a:prstGeom prst="ellipse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Text 16"/>
          <p:cNvSpPr/>
          <p:nvPr/>
        </p:nvSpPr>
        <p:spPr>
          <a:xfrm>
            <a:off x="777240" y="2478024"/>
            <a:ext cx="3657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50" b="1" dirty="0">
                <a:solidFill>
                  <a:srgbClr val="0D11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Heat Maps</a:t>
            </a:r>
            <a:endParaRPr lang="en-US" sz="1350" dirty="0"/>
          </a:p>
        </p:txBody>
      </p:sp>
      <p:sp>
        <p:nvSpPr>
          <p:cNvPr id="20" name="Text 17"/>
          <p:cNvSpPr/>
          <p:nvPr/>
        </p:nvSpPr>
        <p:spPr>
          <a:xfrm>
            <a:off x="502920" y="2871216"/>
            <a:ext cx="39319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5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Visual pitch overlays showing player positioning, pressure zones, and movement patterns.</a:t>
            </a:r>
            <a:endParaRPr lang="en-US" sz="1150" dirty="0"/>
          </a:p>
        </p:txBody>
      </p:sp>
      <p:sp>
        <p:nvSpPr>
          <p:cNvPr id="21" name="Shape 18"/>
          <p:cNvSpPr/>
          <p:nvPr/>
        </p:nvSpPr>
        <p:spPr>
          <a:xfrm>
            <a:off x="4754880" y="2414016"/>
            <a:ext cx="4251960" cy="1078992"/>
          </a:xfrm>
          <a:prstGeom prst="rect">
            <a:avLst/>
          </a:prstGeom>
          <a:solidFill>
            <a:srgbClr val="FFFFFF"/>
          </a:solidFill>
          <a:ln w="6350">
            <a:solidFill>
              <a:srgbClr val="E0E0E0"/>
            </a:solidFill>
            <a:prstDash val="solid"/>
          </a:ln>
          <a:effectLst>
            <a:outerShdw blurRad="762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2" name="Shape 19"/>
          <p:cNvSpPr/>
          <p:nvPr/>
        </p:nvSpPr>
        <p:spPr>
          <a:xfrm>
            <a:off x="4754880" y="2414016"/>
            <a:ext cx="109728" cy="1078992"/>
          </a:xfrm>
          <a:prstGeom prst="rect">
            <a:avLst/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Shape 20"/>
          <p:cNvSpPr/>
          <p:nvPr/>
        </p:nvSpPr>
        <p:spPr>
          <a:xfrm>
            <a:off x="4983480" y="2532888"/>
            <a:ext cx="201168" cy="201168"/>
          </a:xfrm>
          <a:prstGeom prst="ellipse">
            <a:avLst/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Text 21"/>
          <p:cNvSpPr/>
          <p:nvPr/>
        </p:nvSpPr>
        <p:spPr>
          <a:xfrm>
            <a:off x="5257800" y="2478024"/>
            <a:ext cx="3657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50" b="1" dirty="0">
                <a:solidFill>
                  <a:srgbClr val="0D11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Pass Networks</a:t>
            </a:r>
            <a:endParaRPr lang="en-US" sz="1350" dirty="0"/>
          </a:p>
        </p:txBody>
      </p:sp>
      <p:sp>
        <p:nvSpPr>
          <p:cNvPr id="25" name="Text 22"/>
          <p:cNvSpPr/>
          <p:nvPr/>
        </p:nvSpPr>
        <p:spPr>
          <a:xfrm>
            <a:off x="4983480" y="2871216"/>
            <a:ext cx="39319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5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Interactive graph of team passing combinations, connection strength, and key playmakers.</a:t>
            </a:r>
            <a:endParaRPr lang="en-US" sz="1150" dirty="0"/>
          </a:p>
        </p:txBody>
      </p:sp>
      <p:sp>
        <p:nvSpPr>
          <p:cNvPr id="26" name="Shape 23"/>
          <p:cNvSpPr/>
          <p:nvPr/>
        </p:nvSpPr>
        <p:spPr>
          <a:xfrm>
            <a:off x="274320" y="3657600"/>
            <a:ext cx="4251960" cy="1078992"/>
          </a:xfrm>
          <a:prstGeom prst="rect">
            <a:avLst/>
          </a:prstGeom>
          <a:solidFill>
            <a:srgbClr val="FFFFFF"/>
          </a:solidFill>
          <a:ln w="6350">
            <a:solidFill>
              <a:srgbClr val="E0E0E0"/>
            </a:solidFill>
            <a:prstDash val="solid"/>
          </a:ln>
          <a:effectLst>
            <a:outerShdw blurRad="762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7" name="Shape 24"/>
          <p:cNvSpPr/>
          <p:nvPr/>
        </p:nvSpPr>
        <p:spPr>
          <a:xfrm>
            <a:off x="274320" y="3657600"/>
            <a:ext cx="109728" cy="1078992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8" name="Shape 25"/>
          <p:cNvSpPr/>
          <p:nvPr/>
        </p:nvSpPr>
        <p:spPr>
          <a:xfrm>
            <a:off x="502920" y="3776472"/>
            <a:ext cx="201168" cy="201168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9" name="Text 26"/>
          <p:cNvSpPr/>
          <p:nvPr/>
        </p:nvSpPr>
        <p:spPr>
          <a:xfrm>
            <a:off x="777240" y="3721608"/>
            <a:ext cx="3657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50" b="1" dirty="0">
                <a:solidFill>
                  <a:srgbClr val="0D11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Match Timeline</a:t>
            </a:r>
            <a:endParaRPr lang="en-US" sz="1350" dirty="0"/>
          </a:p>
        </p:txBody>
      </p:sp>
      <p:sp>
        <p:nvSpPr>
          <p:cNvPr id="30" name="Text 27"/>
          <p:cNvSpPr/>
          <p:nvPr/>
        </p:nvSpPr>
        <p:spPr>
          <a:xfrm>
            <a:off x="502920" y="4114800"/>
            <a:ext cx="39319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5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Scrollable minute-by-minute match log with goals, cards, subs, and key chances.</a:t>
            </a:r>
            <a:endParaRPr lang="en-US" sz="1150" dirty="0"/>
          </a:p>
        </p:txBody>
      </p:sp>
      <p:sp>
        <p:nvSpPr>
          <p:cNvPr id="31" name="Shape 28"/>
          <p:cNvSpPr/>
          <p:nvPr/>
        </p:nvSpPr>
        <p:spPr>
          <a:xfrm>
            <a:off x="4754880" y="3657600"/>
            <a:ext cx="4251960" cy="1078992"/>
          </a:xfrm>
          <a:prstGeom prst="rect">
            <a:avLst/>
          </a:prstGeom>
          <a:solidFill>
            <a:srgbClr val="FFFFFF"/>
          </a:solidFill>
          <a:ln w="6350">
            <a:solidFill>
              <a:srgbClr val="E0E0E0"/>
            </a:solidFill>
            <a:prstDash val="solid"/>
          </a:ln>
          <a:effectLst>
            <a:outerShdw blurRad="762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2" name="Shape 29"/>
          <p:cNvSpPr/>
          <p:nvPr/>
        </p:nvSpPr>
        <p:spPr>
          <a:xfrm>
            <a:off x="4754880" y="3657600"/>
            <a:ext cx="109728" cy="1078992"/>
          </a:xfrm>
          <a:prstGeom prst="rect">
            <a:avLst/>
          </a:prstGeom>
          <a:solidFill>
            <a:srgbClr val="56D364"/>
          </a:solidFill>
          <a:ln w="12700">
            <a:solidFill>
              <a:srgbClr val="56D36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3" name="Shape 30"/>
          <p:cNvSpPr/>
          <p:nvPr/>
        </p:nvSpPr>
        <p:spPr>
          <a:xfrm>
            <a:off x="4983480" y="3776472"/>
            <a:ext cx="201168" cy="201168"/>
          </a:xfrm>
          <a:prstGeom prst="ellipse">
            <a:avLst/>
          </a:prstGeom>
          <a:solidFill>
            <a:srgbClr val="56D364"/>
          </a:solidFill>
          <a:ln w="12700">
            <a:solidFill>
              <a:srgbClr val="56D36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4" name="Text 31"/>
          <p:cNvSpPr/>
          <p:nvPr/>
        </p:nvSpPr>
        <p:spPr>
          <a:xfrm>
            <a:off x="5257800" y="3721608"/>
            <a:ext cx="3657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50" b="1" dirty="0">
                <a:solidFill>
                  <a:srgbClr val="0D11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Match Reports</a:t>
            </a:r>
            <a:endParaRPr lang="en-US" sz="1350" dirty="0"/>
          </a:p>
        </p:txBody>
      </p:sp>
      <p:sp>
        <p:nvSpPr>
          <p:cNvPr id="35" name="Text 32"/>
          <p:cNvSpPr/>
          <p:nvPr/>
        </p:nvSpPr>
        <p:spPr>
          <a:xfrm>
            <a:off x="4983480" y="4114800"/>
            <a:ext cx="39319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5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Auto-generated post-match summaries highlighting key moments and tactical insights.</a:t>
            </a:r>
            <a:endParaRPr lang="en-US" sz="11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64592"/>
          </a:xfrm>
          <a:prstGeom prst="rect">
            <a:avLst/>
          </a:prstGeom>
          <a:solidFill>
            <a:srgbClr val="2EA043"/>
          </a:solidFill>
          <a:ln w="12700">
            <a:solidFill>
              <a:srgbClr val="2EA04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4974336"/>
            <a:ext cx="9144000" cy="164592"/>
          </a:xfrm>
          <a:prstGeom prst="rect">
            <a:avLst/>
          </a:prstGeom>
          <a:solidFill>
            <a:srgbClr val="E53E6D"/>
          </a:solidFill>
          <a:ln w="12700">
            <a:solidFill>
              <a:srgbClr val="E53E6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2"/>
          <p:cNvSpPr/>
          <p:nvPr/>
        </p:nvSpPr>
        <p:spPr>
          <a:xfrm>
            <a:off x="457200" y="2148840"/>
            <a:ext cx="8229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4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Ready to track the</a:t>
            </a:r>
            <a:endParaRPr lang="en-US" sz="4400" dirty="0"/>
          </a:p>
        </p:txBody>
      </p:sp>
      <p:sp>
        <p:nvSpPr>
          <p:cNvPr id="6" name="Text 3"/>
          <p:cNvSpPr/>
          <p:nvPr/>
        </p:nvSpPr>
        <p:spPr>
          <a:xfrm>
            <a:off x="629529" y="3307842"/>
            <a:ext cx="7884942" cy="7543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5200" b="1" dirty="0">
                <a:solidFill>
                  <a:srgbClr val="2EA043"/>
                </a:solidFill>
                <a:latin typeface="Arial Black"/>
                <a:ea typeface="Arial Black" pitchFamily="34" charset="-122"/>
                <a:cs typeface="Arial Black" pitchFamily="34" charset="-120"/>
              </a:rPr>
              <a:t>BEAUTIFUL APPLICATION!</a:t>
            </a:r>
            <a:endParaRPr lang="en-US" sz="5200" dirty="0">
              <a:latin typeface="Arial Black"/>
            </a:endParaRPr>
          </a:p>
        </p:txBody>
      </p:sp>
      <p:sp>
        <p:nvSpPr>
          <p:cNvPr id="7" name="Text 4"/>
          <p:cNvSpPr/>
          <p:nvPr/>
        </p:nvSpPr>
        <p:spPr>
          <a:xfrm>
            <a:off x="457200" y="4480560"/>
            <a:ext cx="8229600" cy="411480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8B949E"/>
                </a:solidFill>
                <a:ea typeface="+mn-lt"/>
                <a:cs typeface="+mn-lt"/>
              </a:rPr>
              <a:t>footballmatchtracker.io  |  @FootballTracker</a:t>
            </a:r>
            <a:endParaRPr lang="bg-BG" dirty="0">
              <a:ea typeface="+mn-lt"/>
              <a:cs typeface="+mn-lt"/>
            </a:endParaRP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B8BAEF52-4ECF-12AD-81F4-FE1DC6808CD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381375" y="149352"/>
            <a:ext cx="2381250" cy="238125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Тема на Office">
  <a:themeElements>
    <a:clrScheme name="О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О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О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12</TotalTime>
  <Words>470</Words>
  <Application>Microsoft Office PowerPoint</Application>
  <PresentationFormat>On-screen Show (16:9)</PresentationFormat>
  <Paragraphs>86</Paragraphs>
  <Slides>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1" baseType="lpstr">
      <vt:lpstr>Arial</vt:lpstr>
      <vt:lpstr>Arial Black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Nexus School Software – Presentation</dc:title>
  <dc:subject>PptxGenJS Presentation</dc:subject>
  <dc:creator>Nexus School Software</dc:creator>
  <cp:lastModifiedBy>Димитър П. Нягалов</cp:lastModifiedBy>
  <cp:revision>37</cp:revision>
  <dcterms:created xsi:type="dcterms:W3CDTF">2026-03-24T19:29:28Z</dcterms:created>
  <dcterms:modified xsi:type="dcterms:W3CDTF">2026-05-17T12:20:35Z</dcterms:modified>
</cp:coreProperties>
</file>